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231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大家好。我们做了两个加密货币策略的回测。一个是把 2025 年一篇论文的规则原样搬过来，另一个是用机器学习让模型自己找规律。另外我们还把论文的参数调了一版，看看调出来的漂亮曲线到底靠不靠谱。所有回测都在开源软件 Freqtrade 里跑。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先说说数字货币和股票有什么不一样。第一是波动大，比特币一年的波动率有 63%，差不多是沪深 300 的 3.4 倍。第二是跌起来很深，比特币最多跌掉过 77%。第三是大涨大跌很常见，比特币大约每 10 天就有一天涨跌超过 5%。第四是它有趋势，涨起来容易接着涨，这个结论主要来自文献，表里这个数只是个直观的例子，样本不多。第五，它没有利润和分红，没法算估值，所以只能看价格本身。最后它全年不停地交易，适合交给程序。这几条合起来，就是我们选趋势跟踪、按波动率定仓位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趋势跟踪在高波动的资产上证据最多。商品期货有一百多年的数据，加密货币上 2021 年 RFS 的论文也证实了动量很强。我们复现的是 2025 年 Zarattini 等人的论文。不过也有反例，抄底类的规则近几年就不灵了。还有一点要注意：McLean 和 Pontiff 发现，策略一发表，收益平均会少一半以上。所以我们最关心的，是这篇论文发表之后它还灵不灵。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规则分三块。什么时候买：有 9 个长短不同的回看期，收盘价创出这段时间的新高，就买一份。什么时候卖：止损线放在这段时间最高价和最低价的中间，只往上挪，跌破就卖。买多少：波动越大买得越少。参数全是论文里的，我们一个都没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第二个策略换个思路：不写死规则，让 XGBoost 从 58 个简单特征里自己学，预测未来 24 小时会涨多少。它每周只用过去一年的数据重新训练，所以每一次预测都是对没见过的行情做的。另外只有预测涨幅超过两倍成本才买，免得被手续费吃掉。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第三个策略是我们自己加的。规则和论文完全一样，只是把论文里的几个数字交给 Freqtrade 的 hyperopt 去调，一共试了 500 组。调出来的结果是：回看期整体缩短一半、去掉最短的两个，止损线提高到 70% 的位置，也就是更早卖；目标波动率从 25% 提到 55%，也就是仓位更重。我们给它定的目标是：最大回撤不超过 20%，在这个前提下年化收益越高越好。关键是我们只拿论文样本期的数据去调，2025 年 3 月以后的行情调参时完全没碰，这样才能看出调出来的参数是真有用，还是只是把历史背下来了。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为了让结果可信，我们做了四件事。第一，手续费按每边 0.15% 算，还试了不收费和更贵的情况。第二，用 Freqtrade 自带的工具查有没有偷看未来：把后面的数据截掉重跑，逐笔比对买卖点。第三，不只和一直持有比，还和一个仓位一样大的持有组合比，这样风险是对齐的。第四，调参和检验用不同的时间段，2025 年 3 月以后的行情三个策略都没见过。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先看全区间。一直持有赚得最多，这没什么好说的，但它中间最多亏过 77%，一般人很难拿得住。论文原版平均只用了 17% 的钱，所以拿它和满仓持有比不公平。我们加了一条虚线，同样只放 17% 在币上一直拿着，它的年化是 10.3%，论文原版是 16.0%。最下面的橙线是机器学习，扣完手续费是亏的，后面单独说。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横轴是最大回撤，越往左越安全；纵轴是年化收益。一直持有在右上角，赚得多，但风险也大得多。论文原版在左边。和仓位一样大的持有组合比，它在差不多的风险下赚得更多，夏普也更高。机器学习在零线下面，扣完手续费是亏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这页是我们最想让大家看的。论文写完的时候，后面这段行情它是没见过的，算是一场真正的考试。这 19 个月比特币先涨后跌，一直拿着最多亏过 53%。论文原版赚了 5.1%，最多只亏了 14%，稳是真的稳；但和同等仓位的持有组合比，基本打平，没有多赚。这跟 McLean 和 Pontiff 说的一样，策略一公开，多赚的那部分往往就缩水了。当然 19 个月还不算长，我们也不敢把话说死。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这页看调参版到底靠不靠谱。左边是调参用的那段数据：年化 42.2%，最多只亏 19.6%，曲线非常漂亮，每年比同样仓位一直拿着多赚 23 个点。右边是调参时没见过的 19 个月：年化掉到 6.4%，只比同样仓位的持有多 1.6 个点，最多亏了 24.7%，还超过了我们调参时定的 20% 上限。说白了，500 组参数里挑出来的最好那组，多赚的部分大多是把历史行情背下来了。这也是我们主线用论文原版参数、不用调过的参数的原因。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回撤为什么小，看这张图就明白了。下面是论文原版在 BTC 上的仓位。涨的时候仓位一点点加上去，趋势一破就撤。2022 年比特币跌了七成多，它几乎一直在场外。代价是牛市里也只吃到一部分涨幅。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机器学习的结果挺有意思。虚线是不算手续费的净值，赚了 68%；实线是同样的买卖信号扣掉手续费，亏了 36%。它一年交易 227 笔，平均只拿 1.2 天，手续费一年就吃掉 13 个百分点；论文原版一年只交易 20 笔，手续费一年还不到 1 个点。所以模型不是完全没用，它是有一点预测能力的，只是每笔赚得太少，付不起手续费。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再补充几项检查。论文原版的手续费从 0 提到 0.5%，年化只少两三个点，结论不变。Freqtrade 自带的检查工具没有发现买卖点受未来数据影响。机器学习被工具标了有差异，我们一行一行查过，一是小数点后第 14 位的浮点误差，二是截断重跑时最后一根 K 线没有预测，其他每一行的预测和信号都完全一样。我们还自己用逐笔订单重算了净值，和 Freqtrade 的记录逐日对得上。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前面的结果都来自 Freqtrade。为了确认结论不是一个软件算出来的，我们又换了一个平台 QuantLab。它有自己的回测引擎，行情也是自己从 OKX 下载的。我们按平台的写法重写了趋势追踪和调参版，规则不变。结果几乎一样：趋势追踪全区间年化，平台 15.7%，Freqtrade 16.0%；论文发表前后，平台 19.5% 和 2.7%，Freqtrade 19.8% 和 3.1%。调参版到了样本外，两边都只剩 6% 左右。机器学习依赖 FreqAI，平台不支持，留在 Freqtrade 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总结一下。论文原版在它的样本期里确实有效；发表以后还是很稳，但没比持有多赚。机器学习有一点预测能力，可是交易太勤，手续费把收益吃光了。调参版在调参用的数据上年化 42.2%，到了没见过的行情只剩 6.4%，纸面上漂亮的曲线靠不住。下一步我们想加资金费过滤、让机器学习少交易、试试做空、扩到更多币，并且放到模拟盘上实时跑。谢谢大家。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这页备用。780 个模型平均下来，最重要的是离最近 7 天、30 天高低点有多远，还有波动率，和论文规则用的是同一类信息；1 到 4 小时的短期特征几乎没用。模型能用的信息变化很慢，它却按小时进进出出，这就是手续费吃掉收益的原因。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22222"/>
                </a:solidFill>
                <a:latin typeface="Microsoft YaHei"/>
                <a:ea typeface="Microsoft YaHei"/>
              </a:rPr>
              <a:t>论文复刻VS机器学习？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34640"/>
            <a:ext cx="10972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6B6B6B"/>
                </a:solidFill>
                <a:latin typeface="Microsoft YaHei"/>
                <a:ea typeface="Microsoft YaHei"/>
              </a:rPr>
              <a:t>在 Freqtrade 里回测 BTC、ETH 的现货策略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0"/>
            <a:ext cx="1097280" cy="640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661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OKX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现货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BTC/USDT、ETH/USDT ｜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回测区间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2019-05 至 2026-10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6B6B6B"/>
                </a:solidFill>
                <a:latin typeface="Microsoft YaHei"/>
                <a:ea typeface="Microsoft YaHei"/>
              </a:rPr>
              <a:t>2026 年 10 月 2</a:t>
            </a:r>
            <a:r>
              <a:rPr lang="en-US" sz="1600" b="0" dirty="0">
                <a:solidFill>
                  <a:srgbClr val="6B6B6B"/>
                </a:solidFill>
                <a:latin typeface="Microsoft YaHei"/>
                <a:ea typeface="Microsoft YaHei"/>
              </a:rPr>
              <a:t>0</a:t>
            </a:r>
            <a:r>
              <a:rPr sz="1600" b="0" dirty="0">
                <a:solidFill>
                  <a:srgbClr val="6B6B6B"/>
                </a:solidFill>
                <a:latin typeface="Microsoft YaHei"/>
                <a:ea typeface="Microsoft YaHei"/>
              </a:rPr>
              <a:t>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 err="1">
                <a:solidFill>
                  <a:srgbClr val="222222"/>
                </a:solidFill>
                <a:latin typeface="Microsoft YaHei"/>
                <a:ea typeface="Microsoft YaHei"/>
              </a:rPr>
              <a:t>数字货币</a:t>
            </a:r>
            <a:r>
              <a:rPr lang="zh-CN" altLang="en-US" sz="2800" b="1" dirty="0">
                <a:solidFill>
                  <a:srgbClr val="222222"/>
                </a:solidFill>
                <a:latin typeface="Microsoft YaHei"/>
                <a:ea typeface="Microsoft YaHei"/>
              </a:rPr>
              <a:t>的</a:t>
            </a:r>
            <a:r>
              <a:rPr sz="2800" b="1" dirty="0" err="1">
                <a:solidFill>
                  <a:srgbClr val="222222"/>
                </a:solidFill>
                <a:latin typeface="Microsoft YaHei"/>
                <a:ea typeface="Microsoft YaHei"/>
              </a:rPr>
              <a:t>特点</a:t>
            </a:r>
            <a:endParaRPr sz="2800" b="1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49256"/>
              </p:ext>
            </p:extLst>
          </p:nvPr>
        </p:nvGraphicFramePr>
        <p:xfrm>
          <a:off x="548640" y="146304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特点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数据（2019-05 至 2026-10）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所以策略要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波动大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年化波动 BTC 63%、ETH 82%；沪深 300 18%、标普 500 20%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按波动率定仓位，波动越大买得越少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跌势猛烈</a:t>
                      </a:r>
                      <a:endParaRPr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BTC 最多跌掉 77%，单日最多跌 40%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一定要有卖出规则，不能一直拿着硬扛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大涨大跌是常态</a:t>
                      </a:r>
                      <a:endParaRPr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BTC 平均 10 天就有 1 天涨跌超 5%；沪深 300 要 300 天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别做太短的周期，日线就够了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趋势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明显</a:t>
                      </a:r>
                      <a:endParaRPr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BTC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上月涨，下月平均涨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 7.9%；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上月跌，下月平均只涨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 0.5%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顺着趋势做：创新高就买，跌破就卖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无传统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现金流</a:t>
                      </a:r>
                      <a:endParaRPr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没有利润，也没有分红，算不出估值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主要看价格</a:t>
                      </a:r>
                      <a:endParaRPr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全年不停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一年 365 天、一天 24 小时都在交易，没有涨跌停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交给程序自动执行</a:t>
                      </a:r>
                      <a:endParaRPr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698048"/>
            <a:ext cx="10607040" cy="35394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所以我们选：趋势</a:t>
            </a:r>
            <a:r>
              <a:rPr lang="zh-CN" altLang="en-US" sz="1700" b="1" dirty="0">
                <a:solidFill>
                  <a:srgbClr val="FFFFFF"/>
                </a:solidFill>
                <a:latin typeface="Microsoft YaHei"/>
                <a:ea typeface="Microsoft YaHei"/>
              </a:rPr>
              <a:t>追</a:t>
            </a:r>
            <a:r>
              <a:rPr sz="1700" b="1" dirty="0">
                <a:solidFill>
                  <a:srgbClr val="FFFFFF"/>
                </a:solidFill>
                <a:latin typeface="Microsoft YaHei"/>
                <a:ea typeface="Microsoft YaHei"/>
              </a:rPr>
              <a:t>踪 + </a:t>
            </a:r>
            <a:r>
              <a:rPr sz="17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按波动率定仓位，只做多现货，日线低频</a:t>
            </a:r>
            <a:endParaRPr sz="17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BTC、ETH：OKX 日线；沪深 300、标普 500：新浪财经（akshare）｜ “有趋势”一行是不重叠的 30 天区间，共 89 段，只作直观参考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文献里的证据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22775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商品期货</a:t>
            </a:r>
            <a:r>
              <a:rPr sz="17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：过去一年涨的，接下来还容易涨（Moskowitz</a:t>
            </a:r>
            <a:r>
              <a:rPr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 等 2012；Hurst 等 2017）</a:t>
            </a:r>
          </a:p>
          <a:p>
            <a:pPr algn="l">
              <a:spcAft>
                <a:spcPts val="1200"/>
              </a:spcAft>
            </a:pPr>
            <a:r>
              <a:rPr sz="17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加密货币</a:t>
            </a:r>
            <a:r>
              <a:rPr sz="17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：动量效应强（Liu</a:t>
            </a:r>
            <a:r>
              <a:rPr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 &amp; </a:t>
            </a:r>
            <a:r>
              <a:rPr sz="17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Tsyvinski</a:t>
            </a:r>
            <a:r>
              <a:rPr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 2021，RFS）；</a:t>
            </a:r>
            <a:r>
              <a:rPr sz="17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均线</a:t>
            </a:r>
            <a:r>
              <a:rPr lang="zh-CN" altLang="en-US"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策略</a:t>
            </a:r>
            <a:r>
              <a:rPr sz="17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能明显减少比特币的回撤（Detzel</a:t>
            </a:r>
            <a:r>
              <a:rPr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 等 2021）</a:t>
            </a:r>
          </a:p>
          <a:p>
            <a:pPr algn="l">
              <a:spcAft>
                <a:spcPts val="1200"/>
              </a:spcAft>
            </a:pPr>
            <a:r>
              <a:rPr sz="17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论文</a:t>
            </a:r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Microsoft YaHei"/>
              </a:rPr>
              <a:t>主要结论</a:t>
            </a:r>
            <a:r>
              <a:rPr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：</a:t>
            </a:r>
            <a:r>
              <a:rPr sz="17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多个周期的通道突破，再按波动率定仓位（Zarattini、Pagani</a:t>
            </a:r>
            <a:r>
              <a:rPr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 &amp; Barbon 2025）</a:t>
            </a:r>
          </a:p>
          <a:p>
            <a:pPr algn="l">
              <a:spcAft>
                <a:spcPts val="1200"/>
              </a:spcAft>
            </a:pPr>
            <a:r>
              <a:rPr sz="17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反例</a:t>
            </a:r>
            <a:r>
              <a:rPr sz="17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：抄底类的</a:t>
            </a:r>
            <a:r>
              <a:rPr lang="zh-CN" altLang="en-US"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策略</a:t>
            </a:r>
            <a:r>
              <a:rPr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 2022 </a:t>
            </a:r>
            <a:r>
              <a:rPr sz="17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年以后就不灵了（Quantpedia</a:t>
            </a:r>
            <a:r>
              <a:rPr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 2024）；</a:t>
            </a:r>
            <a:r>
              <a:rPr sz="17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很多技术指标换一段数据就</a:t>
            </a:r>
            <a:r>
              <a:rPr lang="zh-CN" altLang="en-US"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会</a:t>
            </a:r>
            <a:r>
              <a:rPr sz="17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失效（Hudson</a:t>
            </a:r>
            <a:r>
              <a:rPr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 &amp; Urquhart 2021）</a:t>
            </a:r>
          </a:p>
          <a:p>
            <a:pPr algn="l">
              <a:spcAft>
                <a:spcPts val="1200"/>
              </a:spcAft>
            </a:pPr>
            <a:r>
              <a:rPr sz="17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小心</a:t>
            </a:r>
            <a:r>
              <a:rPr sz="17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：策略发表以后，收益平均会少一半以上（McLean</a:t>
            </a:r>
            <a:r>
              <a:rPr sz="1700" b="0" dirty="0">
                <a:solidFill>
                  <a:srgbClr val="222222"/>
                </a:solidFill>
                <a:latin typeface="Microsoft YaHei"/>
                <a:ea typeface="Microsoft YaHei"/>
              </a:rPr>
              <a:t> &amp; Pontiff 2016，JF）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492308"/>
            <a:ext cx="10607040" cy="35394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我们想知道</a:t>
            </a:r>
            <a:r>
              <a:rPr sz="1700" b="1" dirty="0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700" b="1" dirty="0">
                <a:solidFill>
                  <a:srgbClr val="FFFFFF"/>
                </a:solidFill>
                <a:latin typeface="Microsoft YaHei"/>
                <a:ea typeface="Microsoft YaHei"/>
              </a:rPr>
              <a:t>论文能否</a:t>
            </a:r>
            <a:r>
              <a:rPr lang="en-US" altLang="zh-CN" sz="1700" b="1" dirty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r>
              <a:rPr lang="zh-CN" altLang="en-US" sz="1700" b="1" dirty="0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lang="en-US" altLang="zh-CN" sz="1700" b="1" dirty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r>
              <a:rPr lang="zh-CN" altLang="en-US" sz="1700" b="1" dirty="0">
                <a:solidFill>
                  <a:srgbClr val="FFFFFF"/>
                </a:solidFill>
                <a:latin typeface="Microsoft YaHei"/>
                <a:ea typeface="Microsoft YaHei"/>
              </a:rPr>
              <a:t>复刻到当前样本周期</a:t>
            </a:r>
            <a:r>
              <a:rPr sz="1700" b="1" dirty="0">
                <a:solidFill>
                  <a:srgbClr val="FFFFFF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文献详见项目 docs/2026-10-20-策略文献调研.md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 err="1">
                <a:solidFill>
                  <a:srgbClr val="222222"/>
                </a:solidFill>
                <a:latin typeface="Microsoft YaHei"/>
                <a:ea typeface="Microsoft YaHei"/>
              </a:rPr>
              <a:t>策略一</a:t>
            </a:r>
            <a:r>
              <a:rPr sz="2800" b="1" dirty="0">
                <a:solidFill>
                  <a:srgbClr val="222222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2800" b="1" dirty="0">
                <a:solidFill>
                  <a:srgbClr val="222222"/>
                </a:solidFill>
                <a:latin typeface="Microsoft YaHei"/>
                <a:ea typeface="Microsoft YaHei"/>
              </a:rPr>
              <a:t>趋势追踪</a:t>
            </a:r>
            <a:r>
              <a:rPr sz="2800" b="1" dirty="0">
                <a:solidFill>
                  <a:srgbClr val="222222"/>
                </a:solidFill>
                <a:latin typeface="Microsoft YaHei"/>
                <a:ea typeface="Microsoft YaHei"/>
              </a:rPr>
              <a:t>（</a:t>
            </a:r>
            <a:r>
              <a:rPr sz="2800" b="1" dirty="0" err="1">
                <a:solidFill>
                  <a:srgbClr val="222222"/>
                </a:solidFill>
                <a:latin typeface="Microsoft YaHei"/>
                <a:ea typeface="Microsoft YaHei"/>
              </a:rPr>
              <a:t>TrendEnsemble</a:t>
            </a:r>
            <a:r>
              <a:rPr sz="2800" b="1" dirty="0">
                <a:solidFill>
                  <a:srgbClr val="222222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35204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什么时候买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154680" cy="12208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一共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9 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个回看期，从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5 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天到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360 天</a:t>
            </a:r>
          </a:p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收盘价创出这段时间的新高，就买入一份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9 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份各</a:t>
            </a:r>
            <a:r>
              <a:rPr lang="zh-CN" altLang="en-US"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自抉择购入时机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25112" y="1508760"/>
            <a:ext cx="35204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645920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什么时候卖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148840"/>
            <a:ext cx="3154680" cy="12208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止损线</a:t>
            </a:r>
            <a:r>
              <a:rPr lang="zh-CN" altLang="en-US"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：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这段时间最高价和最低价的中间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止损线只往上挪，不往下挪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收盘跌破止损线</a:t>
            </a:r>
            <a:r>
              <a:rPr lang="zh-CN" altLang="en-US" sz="1500" dirty="0">
                <a:solidFill>
                  <a:srgbClr val="222222"/>
                </a:solidFill>
                <a:latin typeface="Microsoft YaHei"/>
                <a:ea typeface="Microsoft YaHei"/>
              </a:rPr>
              <a:t>执行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卖</a:t>
            </a:r>
            <a:r>
              <a:rPr lang="zh-CN" altLang="en-US"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出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01584" y="1508760"/>
            <a:ext cx="35204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84464" y="1645920"/>
            <a:ext cx="3154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买多少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148840"/>
            <a:ext cx="3154680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每份仓位 = 25% ÷ 最近 90 天的年化波动率，最多 2 倍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9 份取平均，现货不加杠杆，最多 100%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BTC、ETH 各分一半钱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11064240" cy="6565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每天收盘后算信号，第二天开盘成交；每天把仓位调到目标，差不到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5% 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就不</a:t>
            </a:r>
            <a:r>
              <a:rPr lang="zh-CN" altLang="en-US"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额外进行修改</a:t>
            </a:r>
            <a:r>
              <a:rPr lang="zh-CN" altLang="en-US" sz="1500" dirty="0">
                <a:solidFill>
                  <a:srgbClr val="222222"/>
                </a:solidFill>
                <a:latin typeface="Microsoft YaHei"/>
                <a:ea typeface="Microsoft YaHei"/>
              </a:rPr>
              <a:t>以节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省手续费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lang="zh-CN" altLang="en-US" sz="1500" b="1" dirty="0">
                <a:solidFill>
                  <a:srgbClr val="1F4E79"/>
                </a:solidFill>
                <a:latin typeface="Microsoft YaHei"/>
                <a:ea typeface="Microsoft YaHei"/>
              </a:rPr>
              <a:t>论文</a:t>
            </a:r>
            <a:r>
              <a:rPr sz="15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参数</a:t>
            </a:r>
            <a:r>
              <a:rPr lang="zh-CN" altLang="en-US" sz="1500" b="1" dirty="0">
                <a:solidFill>
                  <a:srgbClr val="1F4E79"/>
                </a:solidFill>
                <a:latin typeface="Microsoft YaHei"/>
                <a:ea typeface="Microsoft YaHei"/>
              </a:rPr>
              <a:t>不进行修改</a:t>
            </a:r>
            <a:endParaRPr sz="1500" b="1" dirty="0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策略二：机器学习（MLXGBoost）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6675120" cy="30136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模型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：Freqtrade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自带的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FreqAI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+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XGBoost，做法参照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Bysik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&amp;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Ślepaczuk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(2026)</a:t>
            </a:r>
          </a:p>
          <a:p>
            <a:pPr algn="l">
              <a:spcAft>
                <a:spcPts val="1100"/>
              </a:spcAft>
            </a:pPr>
            <a:r>
              <a:rPr sz="16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预测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：未来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24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小时的平均涨幅</a:t>
            </a:r>
            <a:r>
              <a:rPr lang="zh-CN" altLang="en-US" sz="1600" dirty="0">
                <a:solidFill>
                  <a:srgbClr val="222222"/>
                </a:solidFill>
                <a:latin typeface="Microsoft YaHei"/>
                <a:ea typeface="Microsoft YaHei"/>
              </a:rPr>
              <a:t>（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通过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1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小时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K 线</a:t>
            </a:r>
            <a:r>
              <a:rPr lang="zh-CN" altLang="en-US"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）</a:t>
            </a:r>
            <a:endParaRPr sz="16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100"/>
              </a:spcAft>
            </a:pPr>
            <a:r>
              <a:rPr lang="zh-CN" altLang="en-US" sz="1600" b="1" dirty="0">
                <a:solidFill>
                  <a:srgbClr val="1F4E79"/>
                </a:solidFill>
                <a:latin typeface="Microsoft YaHei"/>
                <a:ea typeface="Microsoft YaHei"/>
              </a:rPr>
              <a:t>指标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：58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个简单特征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，</a:t>
            </a:r>
            <a:r>
              <a:rPr lang="zh-CN" altLang="en-US"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例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如不同周期的涨跌幅、波动率、离最近高点低点有多远、成交量、几点钟、星期几，还有另一个币的同类特征</a:t>
            </a:r>
            <a:endParaRPr sz="16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100"/>
              </a:spcAft>
            </a:pPr>
            <a:r>
              <a:rPr sz="16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训练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：每周用过去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365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天的数据重新训练一次</a:t>
            </a:r>
            <a:endParaRPr sz="16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100"/>
              </a:spcAft>
            </a:pPr>
            <a:r>
              <a:rPr lang="zh-CN" altLang="en-US" sz="1600" b="1" dirty="0">
                <a:solidFill>
                  <a:srgbClr val="1F4E79"/>
                </a:solidFill>
                <a:latin typeface="Microsoft YaHei"/>
                <a:ea typeface="Microsoft YaHei"/>
              </a:rPr>
              <a:t>买入时机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当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预测涨幅超过一买一卖总成本的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2 倍（0.6%）；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预测转负就卖</a:t>
            </a:r>
            <a:endParaRPr sz="16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100"/>
              </a:spcAft>
            </a:pPr>
            <a:r>
              <a:rPr sz="1600" b="1" dirty="0">
                <a:solidFill>
                  <a:srgbClr val="1F4E79"/>
                </a:solidFill>
                <a:latin typeface="Microsoft YaHei"/>
                <a:ea typeface="Microsoft YaHei"/>
              </a:rPr>
              <a:t>买多少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：25% ÷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年化波动率，最多</a:t>
            </a:r>
            <a:r>
              <a:rPr lang="zh-CN" altLang="en-US"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持有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这个币的一半资金</a:t>
            </a:r>
            <a:endParaRPr sz="1600" b="0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43800" y="1600200"/>
            <a:ext cx="4069080" cy="301752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26680" y="1737360"/>
            <a:ext cx="3703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为什么这样设计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80" y="2240280"/>
            <a:ext cx="3703320" cy="14516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Jaquart 等 (2021)：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预测周期太短，手续费</a:t>
            </a:r>
            <a:r>
              <a:rPr lang="zh-CN" altLang="en-US"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费用会极大幅度上升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Cakici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等 (2024)：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模型</a:t>
            </a:r>
            <a:r>
              <a:rPr lang="zh-CN" altLang="en-US"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复杂程度对预测准确率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提升不大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门槛和训练窗口</a:t>
            </a:r>
            <a:r>
              <a:rPr lang="zh-CN" altLang="en-US"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提前设定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策略三：调参版（TrendTuned）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575374"/>
              </p:ext>
            </p:extLst>
          </p:nvPr>
        </p:nvGraphicFramePr>
        <p:xfrm>
          <a:off x="548640" y="1508760"/>
          <a:ext cx="7086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9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参数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论文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调参后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目标波动率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55%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波动率计算周期</a:t>
                      </a:r>
                      <a:endParaRPr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90 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90 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回看期</a:t>
                      </a:r>
                      <a:endParaRPr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5–360 天，9 个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10–180 天，7 个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止损线位置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中间（50%）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70%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6949440" cy="687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zh-CN" altLang="en-US" sz="1600" b="1" dirty="0">
                <a:solidFill>
                  <a:srgbClr val="1F4E79"/>
                </a:solidFill>
                <a:latin typeface="Microsoft YaHei"/>
                <a:ea typeface="Microsoft YaHei"/>
              </a:rPr>
              <a:t>对论文参数进行调整</a:t>
            </a:r>
            <a:endParaRPr sz="1600" b="1" dirty="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调出来的结果：回看期更短，止损更早，仓位更重</a:t>
            </a:r>
            <a:endParaRPr sz="1600" b="0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18120" y="1508760"/>
            <a:ext cx="3840480" cy="3429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0" y="1645920"/>
            <a:ext cx="34747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800" b="1" dirty="0">
                <a:solidFill>
                  <a:srgbClr val="1F4E79"/>
                </a:solidFill>
                <a:latin typeface="Microsoft YaHei"/>
                <a:ea typeface="Microsoft YaHei"/>
              </a:rPr>
              <a:t>如何进行调参</a:t>
            </a:r>
            <a:endParaRPr sz="1800" b="1" dirty="0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2148840"/>
            <a:ext cx="3474720" cy="14516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用 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Freqtrade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自带的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hyperopt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，</a:t>
            </a:r>
            <a:r>
              <a:rPr lang="zh-CN" altLang="en-US" sz="1500" dirty="0">
                <a:solidFill>
                  <a:srgbClr val="222222"/>
                </a:solidFill>
                <a:latin typeface="Microsoft YaHei"/>
                <a:ea typeface="Microsoft YaHei"/>
              </a:rPr>
              <a:t>尝试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500 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组参数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只用</a:t>
            </a:r>
            <a:r>
              <a:rPr lang="zh-CN" altLang="en-US" sz="1500" dirty="0">
                <a:solidFill>
                  <a:srgbClr val="222222"/>
                </a:solidFill>
                <a:latin typeface="Microsoft YaHei"/>
                <a:ea typeface="Microsoft YaHei"/>
              </a:rPr>
              <a:t>样本期数据进行调试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目标：最大回撤不超过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20%，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年化收益越高越好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 err="1">
                <a:solidFill>
                  <a:srgbClr val="222222"/>
                </a:solidFill>
                <a:latin typeface="Microsoft YaHei"/>
                <a:ea typeface="Microsoft YaHei"/>
              </a:rPr>
              <a:t>保证结果可信</a:t>
            </a:r>
            <a:endParaRPr sz="2800" b="1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945514"/>
              </p:ext>
            </p:extLst>
          </p:nvPr>
        </p:nvGraphicFramePr>
        <p:xfrm>
          <a:off x="548640" y="1463040"/>
          <a:ext cx="110642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检验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计划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结果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 算手续费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每边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 0.15%；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以及设定为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 0、0.25%、0.5%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趋势追踪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：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成本翻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 3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倍多，年化还有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 14.0%；</a:t>
                      </a:r>
                      <a:endParaRPr lang="en-US"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  <a:p>
                      <a:pPr algn="l"/>
                      <a:r>
                        <a:rPr sz="14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机器学习：扣完手续费由赚变亏</a:t>
                      </a:r>
                      <a:endParaRPr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 不偷看未来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用 Freqtrade 的 lookahead-analysis：把后面的数据截掉重跑，逐笔比对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 个策略各抽查 20 笔交易，买卖点全部一致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 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同持有到期比较</a:t>
                      </a:r>
                      <a:endParaRPr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持有 BTC、ETH、各一半，外加“同等仓位持有”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仓位一样的情况下，趋势追踪年化 16.0%，持有 10.3%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 调参和检验分开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以论文样本截止日 2025-03-15 为界；调参版只用之前的数据调；机器学习每周滚动训练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4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40680"/>
            <a:ext cx="1106424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6B6B6B"/>
                </a:solidFill>
                <a:latin typeface="Microsoft YaHei"/>
                <a:ea typeface="Microsoft YaHei"/>
              </a:rPr>
              <a:t>另外：自己用逐笔订单重算净值，和</a:t>
            </a:r>
            <a:r>
              <a:rPr sz="1400" b="0" dirty="0">
                <a:solidFill>
                  <a:srgbClr val="6B6B6B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Microsoft YaHei"/>
                <a:ea typeface="Microsoft YaHei"/>
              </a:rPr>
              <a:t>Freqtrade</a:t>
            </a:r>
            <a:r>
              <a:rPr sz="1400" b="0" dirty="0">
                <a:solidFill>
                  <a:srgbClr val="6B6B6B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Microsoft YaHei"/>
                <a:ea typeface="Microsoft YaHei"/>
              </a:rPr>
              <a:t>账户记录逐日对比，最大差异</a:t>
            </a:r>
            <a:r>
              <a:rPr sz="1400" b="0" dirty="0">
                <a:solidFill>
                  <a:srgbClr val="6B6B6B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400" b="0" dirty="0">
                <a:solidFill>
                  <a:srgbClr val="6B6B6B"/>
                </a:solidFill>
                <a:latin typeface="Microsoft YaHei"/>
                <a:ea typeface="Microsoft YaHei"/>
              </a:rPr>
              <a:t>趋势追踪</a:t>
            </a:r>
            <a:r>
              <a:rPr sz="1400" b="0" dirty="0">
                <a:solidFill>
                  <a:srgbClr val="6B6B6B"/>
                </a:solidFill>
                <a:latin typeface="Microsoft YaHei"/>
                <a:ea typeface="Microsoft YaHei"/>
              </a:rPr>
              <a:t> 0.08%、</a:t>
            </a:r>
            <a:r>
              <a:rPr sz="1400" b="0" dirty="0" err="1">
                <a:solidFill>
                  <a:srgbClr val="6B6B6B"/>
                </a:solidFill>
                <a:latin typeface="Microsoft YaHei"/>
                <a:ea typeface="Microsoft YaHei"/>
              </a:rPr>
              <a:t>机器学习</a:t>
            </a:r>
            <a:r>
              <a:rPr sz="1400" b="0" dirty="0">
                <a:solidFill>
                  <a:srgbClr val="6B6B6B"/>
                </a:solidFill>
                <a:latin typeface="Microsoft YaHei"/>
                <a:ea typeface="Microsoft YaHei"/>
              </a:rPr>
              <a:t> 0.12%、</a:t>
            </a:r>
            <a:r>
              <a:rPr sz="1400" b="0" dirty="0" err="1">
                <a:solidFill>
                  <a:srgbClr val="6B6B6B"/>
                </a:solidFill>
                <a:latin typeface="Microsoft YaHei"/>
                <a:ea typeface="Microsoft YaHei"/>
              </a:rPr>
              <a:t>调参版</a:t>
            </a:r>
            <a:r>
              <a:rPr sz="1400" b="0" dirty="0">
                <a:solidFill>
                  <a:srgbClr val="6B6B6B"/>
                </a:solidFill>
                <a:latin typeface="Microsoft YaHei"/>
                <a:ea typeface="Microsoft YaHei"/>
              </a:rPr>
              <a:t> 0.15%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全区间收益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quity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2296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49240"/>
            <a:ext cx="8229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蓝色虚线和</a:t>
            </a:r>
            <a:r>
              <a:rPr lang="zh-CN" altLang="en-US" sz="1600" b="1" dirty="0">
                <a:solidFill>
                  <a:srgbClr val="1F4E79"/>
                </a:solidFill>
                <a:latin typeface="Microsoft YaHei"/>
                <a:ea typeface="Microsoft YaHei"/>
              </a:rPr>
              <a:t>趋势追踪</a:t>
            </a:r>
            <a:r>
              <a:rPr sz="1600" b="1" dirty="0">
                <a:solidFill>
                  <a:srgbClr val="1F4E79"/>
                </a:solidFill>
                <a:latin typeface="Microsoft YaHei"/>
                <a:ea typeface="Microsoft YaHei"/>
              </a:rPr>
              <a:t>仓位一样（17%），</a:t>
            </a:r>
            <a:r>
              <a:rPr sz="16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趋势追踪每年比它多赚约</a:t>
            </a:r>
            <a:r>
              <a:rPr sz="1600" b="1" dirty="0">
                <a:solidFill>
                  <a:srgbClr val="1F4E79"/>
                </a:solidFill>
                <a:latin typeface="Microsoft YaHei"/>
                <a:ea typeface="Microsoft YaHei"/>
              </a:rPr>
              <a:t> 6 </a:t>
            </a:r>
            <a:r>
              <a:rPr sz="16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个点</a:t>
            </a:r>
            <a:endParaRPr sz="1600" b="1" dirty="0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06840" y="1463040"/>
            <a:ext cx="2651760" cy="3886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89720" y="160020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2103120"/>
            <a:ext cx="2286000" cy="281102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zh-CN" altLang="en-US" sz="1500" dirty="0">
                <a:solidFill>
                  <a:srgbClr val="222222"/>
                </a:solidFill>
                <a:latin typeface="Microsoft YaHei"/>
                <a:ea typeface="Microsoft YaHei"/>
              </a:rPr>
              <a:t>趋势追踪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：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年化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500" b="1" dirty="0">
                <a:solidFill>
                  <a:srgbClr val="1F4E79"/>
                </a:solidFill>
                <a:latin typeface="Microsoft YaHei"/>
                <a:ea typeface="Microsoft YaHei"/>
              </a:rPr>
              <a:t>16.0%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，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最多亏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500" b="1" dirty="0">
                <a:solidFill>
                  <a:srgbClr val="1F4E79"/>
                </a:solidFill>
                <a:latin typeface="Microsoft YaHei"/>
                <a:ea typeface="Microsoft YaHei"/>
              </a:rPr>
              <a:t>16.8%</a:t>
            </a:r>
          </a:p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各半持有：年化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43.6%，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最多亏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77.1%</a:t>
            </a:r>
          </a:p>
          <a:p>
            <a:pPr algn="l">
              <a:spcAft>
                <a:spcPts val="800"/>
              </a:spcAft>
            </a:pPr>
            <a:r>
              <a:rPr lang="zh-CN" altLang="en-US"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趋势追踪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平均只用了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500" b="1" dirty="0">
                <a:solidFill>
                  <a:srgbClr val="1F4E79"/>
                </a:solidFill>
                <a:latin typeface="Microsoft YaHei"/>
                <a:ea typeface="Microsoft YaHei"/>
              </a:rPr>
              <a:t>17%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的钱</a:t>
            </a:r>
            <a:endParaRPr sz="15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只放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17% </a:t>
            </a:r>
            <a:r>
              <a:rPr sz="15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在币上一直拿着：年化</a:t>
            </a:r>
            <a:r>
              <a:rPr sz="1500" b="0" dirty="0">
                <a:solidFill>
                  <a:srgbClr val="222222"/>
                </a:solidFill>
                <a:latin typeface="Microsoft YaHei"/>
                <a:ea typeface="Microsoft YaHei"/>
              </a:rPr>
              <a:t> 10.3%</a:t>
            </a:r>
          </a:p>
          <a:p>
            <a:pPr algn="l">
              <a:spcAft>
                <a:spcPts val="800"/>
              </a:spcAft>
            </a:pPr>
            <a:r>
              <a:rPr lang="zh-CN" altLang="en-US" sz="1500" b="0" dirty="0">
                <a:solidFill>
                  <a:srgbClr val="6B6B6B"/>
                </a:solidFill>
                <a:latin typeface="Microsoft YaHei"/>
                <a:ea typeface="Microsoft YaHei"/>
              </a:rPr>
              <a:t>（</a:t>
            </a:r>
            <a:r>
              <a:rPr sz="1500" b="0" dirty="0" err="1">
                <a:solidFill>
                  <a:srgbClr val="6B6B6B"/>
                </a:solidFill>
                <a:latin typeface="Microsoft YaHei"/>
                <a:ea typeface="Microsoft YaHei"/>
              </a:rPr>
              <a:t>橙线是机器学习，后面单独讲</a:t>
            </a:r>
            <a:r>
              <a:rPr lang="zh-CN" altLang="en-US" sz="1500" b="0" dirty="0">
                <a:solidFill>
                  <a:srgbClr val="6B6B6B"/>
                </a:solidFill>
                <a:latin typeface="Microsoft YaHei"/>
                <a:ea typeface="Microsoft YaHei"/>
              </a:rPr>
              <a:t>）</a:t>
            </a:r>
            <a:endParaRPr sz="1500" b="0" dirty="0">
              <a:solidFill>
                <a:srgbClr val="6B6B6B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收益和风险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isk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923314" cy="48463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532406"/>
              </p:ext>
            </p:extLst>
          </p:nvPr>
        </p:nvGraphicFramePr>
        <p:xfrm>
          <a:off x="7315200" y="1600200"/>
          <a:ext cx="4343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年化收益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年化波动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夏普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趋势追踪</a:t>
                      </a:r>
                      <a:endParaRPr sz="12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13.0%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-16.8%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机器学习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-5.8%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15.2%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-0.31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-48.7%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同等仓位（17%）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10.3%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11.7%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0.90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-19.7%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各半持有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43.6%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69.3%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0.88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-77.1%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持有 BTC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43.6%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61.7%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0.90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-76.6%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论文发表后的表现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ost_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2296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20640"/>
            <a:ext cx="8229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一直持有像坐过山车</a:t>
            </a:r>
            <a:r>
              <a:rPr sz="1600" b="1" dirty="0">
                <a:solidFill>
                  <a:srgbClr val="1F4E79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600" b="1" dirty="0">
                <a:solidFill>
                  <a:srgbClr val="1F4E79"/>
                </a:solidFill>
                <a:latin typeface="Microsoft YaHei"/>
                <a:ea typeface="Microsoft YaHei"/>
              </a:rPr>
              <a:t>趋势追踪</a:t>
            </a:r>
            <a:r>
              <a:rPr sz="16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几乎是一条平线，但和同等仓位持有（浅蓝）差不多重合</a:t>
            </a:r>
            <a:endParaRPr sz="1600" b="1" dirty="0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15400" y="146304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2025-03 以后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00385"/>
              </p:ext>
            </p:extLst>
          </p:nvPr>
        </p:nvGraphicFramePr>
        <p:xfrm>
          <a:off x="8915400" y="2011680"/>
          <a:ext cx="2743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总收益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趋势追踪</a:t>
                      </a:r>
                      <a:endParaRPr sz="13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+5.1%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-14.3%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同等仓位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+5.1%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-13.3%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持有 BTC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-2.6%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-53.0%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机器学习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-14.8%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-25.5%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15400" y="443484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回撤还是小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但没比同等仓位持有多赚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符合“发表后收益缩水”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调参版：样本内 vs 样本外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u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229600" cy="35661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934075"/>
              </p:ext>
            </p:extLst>
          </p:nvPr>
        </p:nvGraphicFramePr>
        <p:xfrm>
          <a:off x="8915400" y="1463040"/>
          <a:ext cx="274319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样本内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样本外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调参版 年化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42.2%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6.4%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调参版 最大回撤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-19.6%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-24.7%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趋势追踪</a:t>
                      </a:r>
                      <a:r>
                        <a:rPr sz="12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年化</a:t>
                      </a:r>
                      <a:endParaRPr sz="1200" b="0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19.8%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同等仓位 年化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19.6%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15400" y="4114800"/>
            <a:ext cx="27432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和同等仓位持有比：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样本内每年多赚 </a:t>
            </a: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23 个点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样本外只多 </a:t>
            </a: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1.6 个点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样本外最多亏 24.7%，超过了 20% 的上限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2022 年熊市里的仓位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end_expo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22960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06840" y="1463040"/>
            <a:ext cx="2651760" cy="3886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89720" y="160020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看点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2103120"/>
            <a:ext cx="2286000" cy="3154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涨的时候一点点加仓，跌破止损就撤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2022 年几乎一直空仓或者轻仓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平均仓位 17%，最高 66%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代价是牛市里也只吃到一部分涨幅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机器学习：手续费的影响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l_co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498079" cy="3249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09160"/>
            <a:ext cx="7498079" cy="121571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同样的买卖信号，不算手续费赚</a:t>
            </a:r>
            <a:r>
              <a:rPr sz="1600" b="1" dirty="0">
                <a:solidFill>
                  <a:srgbClr val="1F4E79"/>
                </a:solidFill>
                <a:latin typeface="Microsoft YaHei"/>
                <a:ea typeface="Microsoft YaHei"/>
              </a:rPr>
              <a:t> 68%，</a:t>
            </a:r>
            <a:r>
              <a:rPr sz="16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算上手续费亏</a:t>
            </a:r>
            <a:r>
              <a:rPr sz="1600" b="1" dirty="0">
                <a:solidFill>
                  <a:srgbClr val="1F4E79"/>
                </a:solidFill>
                <a:latin typeface="Microsoft YaHei"/>
                <a:ea typeface="Microsoft YaHei"/>
              </a:rPr>
              <a:t> 36%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一年交易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227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笔，平均只拿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1.2 天；7.5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年手续费一共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8,541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USDT，相当于本金的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85%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和 Jaquart 等 (2021)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一样：扣费前赚，扣费后亏</a:t>
            </a:r>
            <a:endParaRPr sz="14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Bysik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等 (2026) </a:t>
            </a:r>
            <a:r>
              <a:rPr lang="zh-CN" altLang="en-US" sz="1400" dirty="0">
                <a:solidFill>
                  <a:srgbClr val="222222"/>
                </a:solidFill>
                <a:latin typeface="Microsoft YaHei"/>
                <a:ea typeface="Microsoft YaHei"/>
              </a:rPr>
              <a:t>：添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加成本门槛</a:t>
            </a:r>
            <a:r>
              <a:rPr lang="zh-CN" altLang="en-US"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就能获得超额收益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，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照做</a:t>
            </a:r>
            <a:r>
              <a:rPr lang="zh-CN" altLang="en-US"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但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没能复现</a:t>
            </a:r>
            <a:endParaRPr sz="1400" b="0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024373"/>
              </p:ext>
            </p:extLst>
          </p:nvPr>
        </p:nvGraphicFramePr>
        <p:xfrm>
          <a:off x="8321040" y="1600200"/>
          <a:ext cx="3337557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趋势追踪</a:t>
                      </a:r>
                      <a:endParaRPr sz="13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机器学习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每年交易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20 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227 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平均持仓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29 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 天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胜率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53%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不计成本年化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7.2%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计成本年化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-5.8%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成本每年吃掉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0.8 个点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12.9 </a:t>
                      </a:r>
                      <a:r>
                        <a:rPr sz="1300" b="1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个点</a:t>
                      </a:r>
                      <a:endParaRPr sz="1300" b="1" dirty="0">
                        <a:solidFill>
                          <a:srgbClr val="222222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5349240"/>
            <a:ext cx="33375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dirty="0" err="1">
                <a:solidFill>
                  <a:srgbClr val="6B6B6B"/>
                </a:solidFill>
                <a:latin typeface="Microsoft YaHei"/>
                <a:ea typeface="Microsoft YaHei"/>
              </a:rPr>
              <a:t>胜率高不代表赚钱</a:t>
            </a:r>
            <a:r>
              <a:rPr sz="1200" b="0" dirty="0">
                <a:solidFill>
                  <a:srgbClr val="6B6B6B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200" dirty="0">
                <a:solidFill>
                  <a:srgbClr val="6B6B6B"/>
                </a:solidFill>
                <a:latin typeface="Microsoft YaHei"/>
                <a:ea typeface="Microsoft YaHei"/>
              </a:rPr>
              <a:t>趋势</a:t>
            </a:r>
            <a:r>
              <a:rPr lang="zh-CN" altLang="en-US" sz="1200" b="0" dirty="0">
                <a:solidFill>
                  <a:srgbClr val="6B6B6B"/>
                </a:solidFill>
                <a:latin typeface="Microsoft YaHei"/>
                <a:ea typeface="Microsoft YaHei"/>
              </a:rPr>
              <a:t>追踪</a:t>
            </a:r>
            <a:r>
              <a:rPr sz="1200" b="0" dirty="0" err="1">
                <a:solidFill>
                  <a:srgbClr val="6B6B6B"/>
                </a:solidFill>
                <a:latin typeface="Microsoft YaHei"/>
                <a:ea typeface="Microsoft YaHei"/>
              </a:rPr>
              <a:t>靠少数几笔大赚，机器学习每笔赚得太少</a:t>
            </a:r>
            <a:endParaRPr sz="1200" b="0" dirty="0">
              <a:solidFill>
                <a:srgbClr val="6B6B6B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稳健性检验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548639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7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每边成本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年化收益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夏普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0（不计成本）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-15.2%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0.15%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1.21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-16.8%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0.25%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15.5%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-17.8%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0.50%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14.0%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1.08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-20.2%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548640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dirty="0" err="1">
                <a:solidFill>
                  <a:srgbClr val="6B6B6B"/>
                </a:solidFill>
                <a:latin typeface="Microsoft YaHei"/>
                <a:ea typeface="Microsoft YaHei"/>
              </a:rPr>
              <a:t>表里是</a:t>
            </a:r>
            <a:r>
              <a:rPr lang="zh-CN" altLang="en-US" sz="1200" b="0" dirty="0">
                <a:solidFill>
                  <a:srgbClr val="6B6B6B"/>
                </a:solidFill>
                <a:latin typeface="Microsoft YaHei"/>
                <a:ea typeface="Microsoft YaHei"/>
              </a:rPr>
              <a:t>趋势追踪</a:t>
            </a:r>
            <a:r>
              <a:rPr sz="1200" b="0" dirty="0">
                <a:solidFill>
                  <a:srgbClr val="6B6B6B"/>
                </a:solidFill>
                <a:latin typeface="Microsoft YaHei"/>
                <a:ea typeface="Microsoft YaHei"/>
              </a:rPr>
              <a:t> 2019-05 至 2026-10 </a:t>
            </a:r>
            <a:r>
              <a:rPr sz="1200" b="0" dirty="0" err="1">
                <a:solidFill>
                  <a:srgbClr val="6B6B6B"/>
                </a:solidFill>
                <a:latin typeface="Microsoft YaHei"/>
                <a:ea typeface="Microsoft YaHei"/>
              </a:rPr>
              <a:t>的结果</a:t>
            </a:r>
            <a:endParaRPr sz="1200" b="0" dirty="0">
              <a:solidFill>
                <a:srgbClr val="6B6B6B"/>
              </a:solidFill>
              <a:latin typeface="Microsoft YaHei"/>
              <a:ea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5257800" cy="267252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手续费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：成本从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0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提到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0.5%，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年化只从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16.8%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降到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14.0%</a:t>
            </a:r>
          </a:p>
          <a:p>
            <a:pPr algn="l">
              <a:spcAft>
                <a:spcPts val="1000"/>
              </a:spcAft>
            </a:pPr>
            <a:r>
              <a:rPr sz="14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偷看未来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：三个策略各抽查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20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笔交易，截断重跑，买卖点一致</a:t>
            </a:r>
            <a:endParaRPr sz="14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000"/>
              </a:spcAft>
            </a:pPr>
            <a:r>
              <a:rPr sz="1400" b="1" dirty="0">
                <a:solidFill>
                  <a:srgbClr val="1F4E79"/>
                </a:solidFill>
                <a:latin typeface="Microsoft YaHei"/>
                <a:ea typeface="Microsoft YaHei"/>
              </a:rPr>
              <a:t>机器学习的“</a:t>
            </a:r>
            <a:r>
              <a:rPr sz="14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有差异</a:t>
            </a:r>
            <a:r>
              <a:rPr sz="1400" b="1" dirty="0">
                <a:solidFill>
                  <a:srgbClr val="1F4E79"/>
                </a:solidFill>
                <a:latin typeface="Microsoft YaHei"/>
                <a:ea typeface="Microsoft YaHei"/>
              </a:rPr>
              <a:t>”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：只</a:t>
            </a:r>
            <a:r>
              <a:rPr lang="zh-CN" altLang="en-US"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有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浮点误差，加上截断处最后一根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K 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线没出预测</a:t>
            </a:r>
            <a:endParaRPr sz="14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000"/>
              </a:spcAft>
            </a:pPr>
            <a:r>
              <a:rPr sz="14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预热长度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：用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460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根和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999 根 K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线预热，结果完全一样</a:t>
            </a:r>
            <a:endParaRPr sz="14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000"/>
              </a:spcAft>
            </a:pPr>
            <a:r>
              <a:rPr sz="14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训练不越界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：机器学习每次训练都会丢掉最后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24 根 K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线，因为它们的答案要用到之后的价格</a:t>
            </a:r>
            <a:endParaRPr sz="14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000"/>
              </a:spcAft>
            </a:pPr>
            <a:r>
              <a:rPr sz="14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净值核对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：自己用逐笔订单重算的净值和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Freqtrade</a:t>
            </a:r>
            <a:r>
              <a:rPr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的账户记录</a:t>
            </a:r>
            <a:r>
              <a:rPr lang="zh-CN" altLang="en-US" sz="1400" b="0" dirty="0">
                <a:solidFill>
                  <a:srgbClr val="222222"/>
                </a:solidFill>
                <a:latin typeface="Microsoft YaHei"/>
                <a:ea typeface="Microsoft YaHei"/>
              </a:rPr>
              <a:t>能够一一对应</a:t>
            </a:r>
            <a:endParaRPr sz="1400" b="0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换一个平台再跑一遍：QuantLab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035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QuantLab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Freqtrade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趋势追踪 全区间年化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15.7%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16.0%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趋势追踪 最大回撤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-15.8%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-16.8%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趋势追踪 年化：发表前 → 后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19.5% → 2.7%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19.8% → 3.1%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调参版 全区间年化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34.0%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33.6%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调参版 年化：样本内 → 样本外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42.6% → 6.3%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42.2% → 6.4%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交易笔数（趋势追踪 / 调参版）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148 / 161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150 / 162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</a:rPr>
              <a:t>两个平台各用各的回测引擎和行情，结论一样：趋势追踪发表后不再多赚，调参版到了样本外只剩 6% 左右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两边日期和成本一样（每边 0.15%），都以 2025-03-15 分段；QuantLab 分段时每段从现金重新开始，数字会略有出入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机器学习依赖 FreqAI，QuantLab 不支持，没放上去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QuantLab v0.1.0-preview.1（github.com/NagisaShip/quantlab，本机部署）｜ 行情：QuantLab 自己从 OKX 下载的日线 ｜ 成本：每边 0.15%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15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9D2E772-DB73-6C49-5632-F82228C71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52" t="4600" b="-1"/>
          <a:stretch>
            <a:fillRect/>
          </a:stretch>
        </p:blipFill>
        <p:spPr>
          <a:xfrm>
            <a:off x="6838517" y="1374043"/>
            <a:ext cx="4801795" cy="37898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结论和下一步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400800" cy="247760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 dirty="0" err="1">
                <a:solidFill>
                  <a:srgbClr val="1F4E79"/>
                </a:solidFill>
                <a:latin typeface="Microsoft YaHei"/>
                <a:ea typeface="Microsoft YaHei"/>
              </a:rPr>
              <a:t>结论</a:t>
            </a:r>
            <a:endParaRPr sz="1900" b="1" dirty="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200"/>
              </a:spcAft>
            </a:pP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1. </a:t>
            </a:r>
            <a:r>
              <a:rPr lang="zh-CN" altLang="en-US" sz="1600" dirty="0">
                <a:solidFill>
                  <a:srgbClr val="222222"/>
                </a:solidFill>
                <a:latin typeface="Microsoft YaHei"/>
                <a:ea typeface="Microsoft YaHei"/>
              </a:rPr>
              <a:t>趋势追踪策略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在 2019 到 2025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年是有效的：仓位一样的情况下，年化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19.8%，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持有只有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12.3%</a:t>
            </a:r>
          </a:p>
          <a:p>
            <a:pPr algn="l">
              <a:spcAft>
                <a:spcPts val="1200"/>
              </a:spcAft>
            </a:pP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2. </a:t>
            </a:r>
            <a:r>
              <a:rPr lang="zh-CN" altLang="en-US" sz="1600" dirty="0">
                <a:solidFill>
                  <a:srgbClr val="222222"/>
                </a:solidFill>
                <a:latin typeface="Microsoft YaHei"/>
                <a:ea typeface="Microsoft YaHei"/>
              </a:rPr>
              <a:t>样本期外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：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最多只亏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14.3%，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还是很稳；但没比持有多赚</a:t>
            </a:r>
            <a:endParaRPr sz="16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200"/>
              </a:spcAft>
            </a:pP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3.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机器学习：不算手续费年化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7.2%，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算上手续费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-5.8%，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交易太勤，钱都给了手续费</a:t>
            </a:r>
            <a:endParaRPr sz="1600" b="0" dirty="0">
              <a:solidFill>
                <a:srgbClr val="222222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1200"/>
              </a:spcAft>
            </a:pP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4. 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调参版：样本内年化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42.2%，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样本外只有</a:t>
            </a:r>
            <a:r>
              <a:rPr sz="1600" b="0" dirty="0">
                <a:solidFill>
                  <a:srgbClr val="222222"/>
                </a:solidFill>
                <a:latin typeface="Microsoft YaHei"/>
                <a:ea typeface="Microsoft YaHei"/>
              </a:rPr>
              <a:t> 6.4%，</a:t>
            </a:r>
            <a:r>
              <a:rPr sz="1600" b="0" dirty="0" err="1">
                <a:solidFill>
                  <a:srgbClr val="222222"/>
                </a:solidFill>
                <a:latin typeface="Microsoft YaHei"/>
                <a:ea typeface="Microsoft YaHei"/>
              </a:rPr>
              <a:t>纸面漂亮靠不住</a:t>
            </a:r>
            <a:endParaRPr sz="1600" b="0" dirty="0">
              <a:solidFill>
                <a:srgbClr val="222222"/>
              </a:solidFill>
              <a:latin typeface="Microsoft YaHe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23760" y="1554480"/>
            <a:ext cx="4434840" cy="3291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0" y="1691640"/>
            <a:ext cx="4069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2194560"/>
            <a:ext cx="4069080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资金费过滤：过热时降仓（BIS 2023）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机器学习：预测更长的周期，少交易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用永续合约做空，熊市也能赚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扩到论文里的 20 个币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在 Freqtrade 模拟盘上实时跑，和回测对比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数据：OKX 现货 BTC/USDT、ETH/USDT（2018-01 至 2026-10）｜ 回测：Freqtrade 2026.9 ｜ 成本：每边 0.15%（手续费 0.1% + 滑点 0.05%）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Microsoft YaHei"/>
                <a:ea typeface="Microsoft YaHei"/>
              </a:rPr>
              <a:t>附录：机器学习看重哪些特征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l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498079" cy="41989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21040" y="1463040"/>
            <a:ext cx="3337560" cy="41148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1600200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</a:rPr>
              <a:t>看点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103120"/>
            <a:ext cx="2971800" cy="3383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最有用的是变化慢的：离最近 7 天、30 天高低点有多远，还有波动率，和论文规则用的是同一类信息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1 到 4 小时的涨跌幅、成交量几乎没用，各占 0.5% 左右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另一个币的特征占了一半：BTC 和 ETH 一起涨跌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有用的信息变得慢，它却交易得快</a:t>
            </a: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，所以被手续费吃掉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780 个滚动训练的模型（390 周 × 2 个币）平均下来的特征重要性，按信息增益算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2456</Words>
  <Application>Microsoft Office PowerPoint</Application>
  <PresentationFormat>宽屏</PresentationFormat>
  <Paragraphs>329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号彭 删</cp:lastModifiedBy>
  <cp:revision>5</cp:revision>
  <dcterms:created xsi:type="dcterms:W3CDTF">2013-01-27T09:14:16Z</dcterms:created>
  <dcterms:modified xsi:type="dcterms:W3CDTF">2026-10-20T16:16:45Z</dcterms:modified>
  <cp:category/>
</cp:coreProperties>
</file>